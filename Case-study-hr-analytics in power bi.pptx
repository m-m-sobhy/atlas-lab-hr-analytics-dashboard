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5557500" cy="8763000"/>
  <p:notesSz cx="15557500" cy="8763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>
      <p:cViewPr varScale="1">
        <p:scale>
          <a:sx n="62" d="100"/>
          <a:sy n="62" d="100"/>
        </p:scale>
        <p:origin x="83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742113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812213" y="0"/>
            <a:ext cx="6742112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6FBD7-6D07-4DD7-BF21-F0E638DD508E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153025" y="1095375"/>
            <a:ext cx="5251450" cy="2957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555750" y="4217988"/>
            <a:ext cx="12446000" cy="34496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323263"/>
            <a:ext cx="6742113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812213" y="8323263"/>
            <a:ext cx="6742112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841D88-D655-4829-B808-F52240AEC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176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66812" y="2716530"/>
            <a:ext cx="13223875" cy="1840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33625" y="4907280"/>
            <a:ext cx="10890250" cy="2190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CASE</a:t>
            </a:r>
            <a:r>
              <a:rPr spc="-5" dirty="0"/>
              <a:t> </a:t>
            </a:r>
            <a:r>
              <a:rPr spc="-120" dirty="0"/>
              <a:t>STUDY:</a:t>
            </a:r>
            <a:r>
              <a:rPr dirty="0"/>
              <a:t> </a:t>
            </a:r>
            <a:r>
              <a:rPr spc="-145" dirty="0"/>
              <a:t>HR</a:t>
            </a:r>
            <a:r>
              <a:rPr dirty="0"/>
              <a:t> </a:t>
            </a:r>
            <a:r>
              <a:rPr spc="-75" dirty="0"/>
              <a:t>ANALYTICS</a:t>
            </a:r>
            <a:r>
              <a:rPr spc="-5" dirty="0"/>
              <a:t> </a:t>
            </a:r>
            <a:r>
              <a:rPr spc="-260" dirty="0"/>
              <a:t>IN</a:t>
            </a:r>
            <a:r>
              <a:rPr dirty="0"/>
              <a:t> </a:t>
            </a:r>
            <a:r>
              <a:rPr spc="-100" dirty="0"/>
              <a:t>POWER</a:t>
            </a:r>
            <a:r>
              <a:rPr spc="-5" dirty="0"/>
              <a:t> </a:t>
            </a:r>
            <a:r>
              <a:rPr spc="-305" dirty="0"/>
              <a:t>BI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4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CASE</a:t>
            </a:r>
            <a:r>
              <a:rPr spc="-5" dirty="0"/>
              <a:t> </a:t>
            </a:r>
            <a:r>
              <a:rPr spc="-120" dirty="0"/>
              <a:t>STUDY:</a:t>
            </a:r>
            <a:r>
              <a:rPr dirty="0"/>
              <a:t> </a:t>
            </a:r>
            <a:r>
              <a:rPr spc="-145" dirty="0"/>
              <a:t>HR</a:t>
            </a:r>
            <a:r>
              <a:rPr dirty="0"/>
              <a:t> </a:t>
            </a:r>
            <a:r>
              <a:rPr spc="-75" dirty="0"/>
              <a:t>ANALYTICS</a:t>
            </a:r>
            <a:r>
              <a:rPr spc="-5" dirty="0"/>
              <a:t> </a:t>
            </a:r>
            <a:r>
              <a:rPr spc="-260" dirty="0"/>
              <a:t>IN</a:t>
            </a:r>
            <a:r>
              <a:rPr dirty="0"/>
              <a:t> </a:t>
            </a:r>
            <a:r>
              <a:rPr spc="-100" dirty="0"/>
              <a:t>POWER</a:t>
            </a:r>
            <a:r>
              <a:rPr spc="-5" dirty="0"/>
              <a:t> </a:t>
            </a:r>
            <a:r>
              <a:rPr spc="-305" dirty="0"/>
              <a:t>BI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77875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012112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CASE</a:t>
            </a:r>
            <a:r>
              <a:rPr spc="-5" dirty="0"/>
              <a:t> </a:t>
            </a:r>
            <a:r>
              <a:rPr spc="-120" dirty="0"/>
              <a:t>STUDY:</a:t>
            </a:r>
            <a:r>
              <a:rPr dirty="0"/>
              <a:t> </a:t>
            </a:r>
            <a:r>
              <a:rPr spc="-145" dirty="0"/>
              <a:t>HR</a:t>
            </a:r>
            <a:r>
              <a:rPr dirty="0"/>
              <a:t> </a:t>
            </a:r>
            <a:r>
              <a:rPr spc="-75" dirty="0"/>
              <a:t>ANALYTICS</a:t>
            </a:r>
            <a:r>
              <a:rPr spc="-5" dirty="0"/>
              <a:t> </a:t>
            </a:r>
            <a:r>
              <a:rPr spc="-260" dirty="0"/>
              <a:t>IN</a:t>
            </a:r>
            <a:r>
              <a:rPr dirty="0"/>
              <a:t> </a:t>
            </a:r>
            <a:r>
              <a:rPr spc="-100" dirty="0"/>
              <a:t>POWER</a:t>
            </a:r>
            <a:r>
              <a:rPr spc="-5" dirty="0"/>
              <a:t> </a:t>
            </a:r>
            <a:r>
              <a:rPr spc="-305" dirty="0"/>
              <a:t>BI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CASE</a:t>
            </a:r>
            <a:r>
              <a:rPr spc="-5" dirty="0"/>
              <a:t> </a:t>
            </a:r>
            <a:r>
              <a:rPr spc="-120" dirty="0"/>
              <a:t>STUDY:</a:t>
            </a:r>
            <a:r>
              <a:rPr dirty="0"/>
              <a:t> </a:t>
            </a:r>
            <a:r>
              <a:rPr spc="-145" dirty="0"/>
              <a:t>HR</a:t>
            </a:r>
            <a:r>
              <a:rPr dirty="0"/>
              <a:t> </a:t>
            </a:r>
            <a:r>
              <a:rPr spc="-75" dirty="0"/>
              <a:t>ANALYTICS</a:t>
            </a:r>
            <a:r>
              <a:rPr spc="-5" dirty="0"/>
              <a:t> </a:t>
            </a:r>
            <a:r>
              <a:rPr spc="-260" dirty="0"/>
              <a:t>IN</a:t>
            </a:r>
            <a:r>
              <a:rPr dirty="0"/>
              <a:t> </a:t>
            </a:r>
            <a:r>
              <a:rPr spc="-100" dirty="0"/>
              <a:t>POWER</a:t>
            </a:r>
            <a:r>
              <a:rPr spc="-5" dirty="0"/>
              <a:t> </a:t>
            </a:r>
            <a:r>
              <a:rPr spc="-305" dirty="0"/>
              <a:t>BI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CASE</a:t>
            </a:r>
            <a:r>
              <a:rPr spc="-5" dirty="0"/>
              <a:t> </a:t>
            </a:r>
            <a:r>
              <a:rPr spc="-120" dirty="0"/>
              <a:t>STUDY:</a:t>
            </a:r>
            <a:r>
              <a:rPr dirty="0"/>
              <a:t> </a:t>
            </a:r>
            <a:r>
              <a:rPr spc="-145" dirty="0"/>
              <a:t>HR</a:t>
            </a:r>
            <a:r>
              <a:rPr dirty="0"/>
              <a:t> </a:t>
            </a:r>
            <a:r>
              <a:rPr spc="-75" dirty="0"/>
              <a:t>ANALYTICS</a:t>
            </a:r>
            <a:r>
              <a:rPr spc="-5" dirty="0"/>
              <a:t> </a:t>
            </a:r>
            <a:r>
              <a:rPr spc="-260" dirty="0"/>
              <a:t>IN</a:t>
            </a:r>
            <a:r>
              <a:rPr dirty="0"/>
              <a:t> </a:t>
            </a:r>
            <a:r>
              <a:rPr spc="-100" dirty="0"/>
              <a:t>POWER</a:t>
            </a:r>
            <a:r>
              <a:rPr spc="-5" dirty="0"/>
              <a:t> </a:t>
            </a:r>
            <a:r>
              <a:rPr spc="-305" dirty="0"/>
              <a:t>BI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8024387"/>
            <a:ext cx="15557500" cy="20955"/>
          </a:xfrm>
          <a:custGeom>
            <a:avLst/>
            <a:gdLst/>
            <a:ahLst/>
            <a:cxnLst/>
            <a:rect l="l" t="t" r="r" b="b"/>
            <a:pathLst>
              <a:path w="15557500" h="20954">
                <a:moveTo>
                  <a:pt x="15557498" y="20470"/>
                </a:moveTo>
                <a:lnTo>
                  <a:pt x="0" y="20470"/>
                </a:lnTo>
                <a:lnTo>
                  <a:pt x="0" y="0"/>
                </a:lnTo>
                <a:lnTo>
                  <a:pt x="15557498" y="0"/>
                </a:lnTo>
                <a:lnTo>
                  <a:pt x="15557498" y="20470"/>
                </a:lnTo>
                <a:close/>
              </a:path>
            </a:pathLst>
          </a:custGeom>
          <a:solidFill>
            <a:srgbClr val="E4E1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8589" y="273879"/>
            <a:ext cx="8397875" cy="713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29356" y="2157161"/>
            <a:ext cx="7258050" cy="2334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417753" y="8207389"/>
            <a:ext cx="5824855" cy="371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CASE</a:t>
            </a:r>
            <a:r>
              <a:rPr spc="-5" dirty="0"/>
              <a:t> </a:t>
            </a:r>
            <a:r>
              <a:rPr spc="-120" dirty="0"/>
              <a:t>STUDY:</a:t>
            </a:r>
            <a:r>
              <a:rPr dirty="0"/>
              <a:t> </a:t>
            </a:r>
            <a:r>
              <a:rPr spc="-145" dirty="0"/>
              <a:t>HR</a:t>
            </a:r>
            <a:r>
              <a:rPr dirty="0"/>
              <a:t> </a:t>
            </a:r>
            <a:r>
              <a:rPr spc="-75" dirty="0"/>
              <a:t>ANALYTICS</a:t>
            </a:r>
            <a:r>
              <a:rPr spc="-5" dirty="0"/>
              <a:t> </a:t>
            </a:r>
            <a:r>
              <a:rPr spc="-260" dirty="0"/>
              <a:t>IN</a:t>
            </a:r>
            <a:r>
              <a:rPr dirty="0"/>
              <a:t> </a:t>
            </a:r>
            <a:r>
              <a:rPr spc="-100" dirty="0"/>
              <a:t>POWER</a:t>
            </a:r>
            <a:r>
              <a:rPr spc="-5" dirty="0"/>
              <a:t> </a:t>
            </a:r>
            <a:r>
              <a:rPr spc="-305" dirty="0"/>
              <a:t>BI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77875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01400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838835" marR="769620" algn="ctr">
              <a:lnSpc>
                <a:spcPts val="6770"/>
              </a:lnSpc>
              <a:spcBef>
                <a:spcPts val="1130"/>
              </a:spcBef>
            </a:pPr>
            <a:r>
              <a:rPr spc="-509" dirty="0"/>
              <a:t>HR</a:t>
            </a:r>
            <a:r>
              <a:rPr spc="-310" dirty="0"/>
              <a:t> </a:t>
            </a:r>
            <a:r>
              <a:rPr spc="-254" dirty="0"/>
              <a:t>Analytics</a:t>
            </a:r>
            <a:r>
              <a:rPr spc="-310" dirty="0"/>
              <a:t> </a:t>
            </a:r>
            <a:r>
              <a:rPr spc="-430" dirty="0"/>
              <a:t>in </a:t>
            </a:r>
            <a:r>
              <a:rPr spc="-484" dirty="0"/>
              <a:t>Power</a:t>
            </a:r>
            <a:r>
              <a:rPr spc="-320" dirty="0"/>
              <a:t> </a:t>
            </a:r>
            <a:r>
              <a:rPr spc="-960" dirty="0"/>
              <a:t>BI</a:t>
            </a:r>
          </a:p>
          <a:p>
            <a:pPr algn="ctr">
              <a:lnSpc>
                <a:spcPct val="100000"/>
              </a:lnSpc>
              <a:spcBef>
                <a:spcPts val="910"/>
              </a:spcBef>
              <a:tabLst>
                <a:tab pos="1050290" algn="l"/>
                <a:tab pos="2409825" algn="l"/>
                <a:tab pos="3007360" algn="l"/>
                <a:tab pos="5076190" algn="l"/>
                <a:tab pos="5577205" algn="l"/>
                <a:tab pos="6927850" algn="l"/>
              </a:tabLst>
            </a:pPr>
            <a:r>
              <a:rPr sz="2250" spc="210" dirty="0"/>
              <a:t>C</a:t>
            </a:r>
            <a:r>
              <a:rPr sz="2250" spc="-340" dirty="0"/>
              <a:t> </a:t>
            </a:r>
            <a:r>
              <a:rPr sz="2250" spc="60" dirty="0"/>
              <a:t>A</a:t>
            </a:r>
            <a:r>
              <a:rPr sz="2250" spc="-355" dirty="0"/>
              <a:t> </a:t>
            </a:r>
            <a:r>
              <a:rPr sz="2250" spc="-150" dirty="0"/>
              <a:t>S</a:t>
            </a:r>
            <a:r>
              <a:rPr sz="2250" spc="-340" dirty="0"/>
              <a:t> </a:t>
            </a:r>
            <a:r>
              <a:rPr sz="2250" spc="-50" dirty="0"/>
              <a:t>E</a:t>
            </a:r>
            <a:r>
              <a:rPr sz="2250" dirty="0"/>
              <a:t>	ST</a:t>
            </a:r>
            <a:r>
              <a:rPr sz="2250" spc="-325" dirty="0"/>
              <a:t> </a:t>
            </a:r>
            <a:r>
              <a:rPr sz="2250" spc="-125" dirty="0"/>
              <a:t>U</a:t>
            </a:r>
            <a:r>
              <a:rPr sz="2250" spc="-320" dirty="0"/>
              <a:t> </a:t>
            </a:r>
            <a:r>
              <a:rPr sz="2250" spc="85" dirty="0"/>
              <a:t>DY</a:t>
            </a:r>
            <a:r>
              <a:rPr sz="2250" spc="-320" dirty="0"/>
              <a:t> </a:t>
            </a:r>
            <a:r>
              <a:rPr sz="2250" spc="-50" dirty="0"/>
              <a:t>:</a:t>
            </a:r>
            <a:r>
              <a:rPr sz="2250" dirty="0"/>
              <a:t>	</a:t>
            </a:r>
            <a:r>
              <a:rPr sz="2250" spc="-60" dirty="0"/>
              <a:t>H</a:t>
            </a:r>
            <a:r>
              <a:rPr sz="2250" spc="-335" dirty="0"/>
              <a:t> </a:t>
            </a:r>
            <a:r>
              <a:rPr sz="2250" spc="-50" dirty="0"/>
              <a:t>R</a:t>
            </a:r>
            <a:r>
              <a:rPr sz="2250" dirty="0"/>
              <a:t>	</a:t>
            </a:r>
            <a:r>
              <a:rPr sz="2250" spc="60" dirty="0"/>
              <a:t>A</a:t>
            </a:r>
            <a:r>
              <a:rPr sz="2250" spc="-330" dirty="0"/>
              <a:t> </a:t>
            </a:r>
            <a:r>
              <a:rPr sz="2250" spc="-60" dirty="0"/>
              <a:t>N</a:t>
            </a:r>
            <a:r>
              <a:rPr sz="2250" spc="-330" dirty="0"/>
              <a:t> </a:t>
            </a:r>
            <a:r>
              <a:rPr sz="2250" spc="60" dirty="0"/>
              <a:t>A</a:t>
            </a:r>
            <a:r>
              <a:rPr sz="2250" spc="-330" dirty="0"/>
              <a:t> </a:t>
            </a:r>
            <a:r>
              <a:rPr sz="2250" dirty="0"/>
              <a:t>LY</a:t>
            </a:r>
            <a:r>
              <a:rPr sz="2250" spc="-330" dirty="0"/>
              <a:t> </a:t>
            </a:r>
            <a:r>
              <a:rPr sz="2250" spc="-90" dirty="0"/>
              <a:t>T</a:t>
            </a:r>
            <a:r>
              <a:rPr sz="2250" spc="-330" dirty="0"/>
              <a:t> </a:t>
            </a:r>
            <a:r>
              <a:rPr sz="2250" spc="-470" dirty="0"/>
              <a:t>I</a:t>
            </a:r>
            <a:r>
              <a:rPr sz="2250" spc="-330" dirty="0"/>
              <a:t> </a:t>
            </a:r>
            <a:r>
              <a:rPr sz="2250" spc="210" dirty="0"/>
              <a:t>C</a:t>
            </a:r>
            <a:r>
              <a:rPr sz="2250" spc="-325" dirty="0"/>
              <a:t> </a:t>
            </a:r>
            <a:r>
              <a:rPr sz="2250" spc="-50" dirty="0"/>
              <a:t>S</a:t>
            </a:r>
            <a:r>
              <a:rPr sz="2250" dirty="0"/>
              <a:t>	</a:t>
            </a:r>
            <a:r>
              <a:rPr sz="2250" spc="-470" dirty="0"/>
              <a:t>I</a:t>
            </a:r>
            <a:r>
              <a:rPr sz="2250" spc="-340" dirty="0"/>
              <a:t> </a:t>
            </a:r>
            <a:r>
              <a:rPr sz="2250" spc="-50" dirty="0"/>
              <a:t>N</a:t>
            </a:r>
            <a:r>
              <a:rPr sz="2250" dirty="0"/>
              <a:t>	</a:t>
            </a:r>
            <a:r>
              <a:rPr sz="2250" spc="105" dirty="0"/>
              <a:t>POW</a:t>
            </a:r>
            <a:r>
              <a:rPr sz="2250" spc="-335" dirty="0"/>
              <a:t> </a:t>
            </a:r>
            <a:r>
              <a:rPr sz="2250" dirty="0"/>
              <a:t>E</a:t>
            </a:r>
            <a:r>
              <a:rPr sz="2250" spc="-330" dirty="0"/>
              <a:t> </a:t>
            </a:r>
            <a:r>
              <a:rPr sz="2250" spc="-50" dirty="0"/>
              <a:t>R</a:t>
            </a:r>
            <a:r>
              <a:rPr sz="2250" dirty="0"/>
              <a:t>	</a:t>
            </a:r>
            <a:r>
              <a:rPr sz="2250" spc="-100" dirty="0"/>
              <a:t>B</a:t>
            </a:r>
            <a:r>
              <a:rPr sz="2250" spc="-335" dirty="0"/>
              <a:t> </a:t>
            </a:r>
            <a:r>
              <a:rPr sz="2250" spc="-520" dirty="0"/>
              <a:t>I</a:t>
            </a:r>
            <a:endParaRPr sz="2250"/>
          </a:p>
        </p:txBody>
      </p:sp>
      <p:grpSp>
        <p:nvGrpSpPr>
          <p:cNvPr id="3" name="object 3"/>
          <p:cNvGrpSpPr/>
          <p:nvPr/>
        </p:nvGrpSpPr>
        <p:grpSpPr>
          <a:xfrm>
            <a:off x="7287459" y="4974305"/>
            <a:ext cx="982980" cy="982980"/>
            <a:chOff x="7287459" y="4974305"/>
            <a:chExt cx="982980" cy="982980"/>
          </a:xfrm>
        </p:grpSpPr>
        <p:sp>
          <p:nvSpPr>
            <p:cNvPr id="4" name="object 4"/>
            <p:cNvSpPr/>
            <p:nvPr/>
          </p:nvSpPr>
          <p:spPr>
            <a:xfrm>
              <a:off x="7287459" y="4974305"/>
              <a:ext cx="982980" cy="982980"/>
            </a:xfrm>
            <a:custGeom>
              <a:avLst/>
              <a:gdLst/>
              <a:ahLst/>
              <a:cxnLst/>
              <a:rect l="l" t="t" r="r" b="b"/>
              <a:pathLst>
                <a:path w="982979" h="982979">
                  <a:moveTo>
                    <a:pt x="491289" y="982578"/>
                  </a:moveTo>
                  <a:lnTo>
                    <a:pt x="443134" y="980213"/>
                  </a:lnTo>
                  <a:lnTo>
                    <a:pt x="395443" y="973138"/>
                  </a:lnTo>
                  <a:lnTo>
                    <a:pt x="348675" y="961423"/>
                  </a:lnTo>
                  <a:lnTo>
                    <a:pt x="303281" y="945181"/>
                  </a:lnTo>
                  <a:lnTo>
                    <a:pt x="259697" y="924568"/>
                  </a:lnTo>
                  <a:lnTo>
                    <a:pt x="218343" y="899781"/>
                  </a:lnTo>
                  <a:lnTo>
                    <a:pt x="179618" y="871061"/>
                  </a:lnTo>
                  <a:lnTo>
                    <a:pt x="143895" y="838683"/>
                  </a:lnTo>
                  <a:lnTo>
                    <a:pt x="111517" y="802960"/>
                  </a:lnTo>
                  <a:lnTo>
                    <a:pt x="82797" y="764235"/>
                  </a:lnTo>
                  <a:lnTo>
                    <a:pt x="58010" y="722881"/>
                  </a:lnTo>
                  <a:lnTo>
                    <a:pt x="37397" y="679297"/>
                  </a:lnTo>
                  <a:lnTo>
                    <a:pt x="21154" y="633903"/>
                  </a:lnTo>
                  <a:lnTo>
                    <a:pt x="9439" y="587135"/>
                  </a:lnTo>
                  <a:lnTo>
                    <a:pt x="2365" y="539444"/>
                  </a:lnTo>
                  <a:lnTo>
                    <a:pt x="0" y="491289"/>
                  </a:lnTo>
                  <a:lnTo>
                    <a:pt x="591" y="467182"/>
                  </a:lnTo>
                  <a:lnTo>
                    <a:pt x="5317" y="419202"/>
                  </a:lnTo>
                  <a:lnTo>
                    <a:pt x="14722" y="371915"/>
                  </a:lnTo>
                  <a:lnTo>
                    <a:pt x="28718" y="325778"/>
                  </a:lnTo>
                  <a:lnTo>
                    <a:pt x="47168" y="281235"/>
                  </a:lnTo>
                  <a:lnTo>
                    <a:pt x="69896" y="238716"/>
                  </a:lnTo>
                  <a:lnTo>
                    <a:pt x="96681" y="198628"/>
                  </a:lnTo>
                  <a:lnTo>
                    <a:pt x="127267" y="161359"/>
                  </a:lnTo>
                  <a:lnTo>
                    <a:pt x="161359" y="127267"/>
                  </a:lnTo>
                  <a:lnTo>
                    <a:pt x="198628" y="96681"/>
                  </a:lnTo>
                  <a:lnTo>
                    <a:pt x="238716" y="69896"/>
                  </a:lnTo>
                  <a:lnTo>
                    <a:pt x="281235" y="47168"/>
                  </a:lnTo>
                  <a:lnTo>
                    <a:pt x="325778" y="28718"/>
                  </a:lnTo>
                  <a:lnTo>
                    <a:pt x="371915" y="14722"/>
                  </a:lnTo>
                  <a:lnTo>
                    <a:pt x="419202" y="5317"/>
                  </a:lnTo>
                  <a:lnTo>
                    <a:pt x="467182" y="591"/>
                  </a:lnTo>
                  <a:lnTo>
                    <a:pt x="491289" y="0"/>
                  </a:lnTo>
                  <a:lnTo>
                    <a:pt x="515395" y="591"/>
                  </a:lnTo>
                  <a:lnTo>
                    <a:pt x="563376" y="5317"/>
                  </a:lnTo>
                  <a:lnTo>
                    <a:pt x="610663" y="14722"/>
                  </a:lnTo>
                  <a:lnTo>
                    <a:pt x="656799" y="28718"/>
                  </a:lnTo>
                  <a:lnTo>
                    <a:pt x="701342" y="47168"/>
                  </a:lnTo>
                  <a:lnTo>
                    <a:pt x="743862" y="69896"/>
                  </a:lnTo>
                  <a:lnTo>
                    <a:pt x="783950" y="96681"/>
                  </a:lnTo>
                  <a:lnTo>
                    <a:pt x="821219" y="127267"/>
                  </a:lnTo>
                  <a:lnTo>
                    <a:pt x="855311" y="161359"/>
                  </a:lnTo>
                  <a:lnTo>
                    <a:pt x="885896" y="198628"/>
                  </a:lnTo>
                  <a:lnTo>
                    <a:pt x="912682" y="238716"/>
                  </a:lnTo>
                  <a:lnTo>
                    <a:pt x="935410" y="281235"/>
                  </a:lnTo>
                  <a:lnTo>
                    <a:pt x="953860" y="325778"/>
                  </a:lnTo>
                  <a:lnTo>
                    <a:pt x="967855" y="371915"/>
                  </a:lnTo>
                  <a:lnTo>
                    <a:pt x="977261" y="419202"/>
                  </a:lnTo>
                  <a:lnTo>
                    <a:pt x="981987" y="467182"/>
                  </a:lnTo>
                  <a:lnTo>
                    <a:pt x="982578" y="491289"/>
                  </a:lnTo>
                  <a:lnTo>
                    <a:pt x="981987" y="515395"/>
                  </a:lnTo>
                  <a:lnTo>
                    <a:pt x="977261" y="563376"/>
                  </a:lnTo>
                  <a:lnTo>
                    <a:pt x="967855" y="610663"/>
                  </a:lnTo>
                  <a:lnTo>
                    <a:pt x="953860" y="656799"/>
                  </a:lnTo>
                  <a:lnTo>
                    <a:pt x="935410" y="701342"/>
                  </a:lnTo>
                  <a:lnTo>
                    <a:pt x="912682" y="743862"/>
                  </a:lnTo>
                  <a:lnTo>
                    <a:pt x="885897" y="783950"/>
                  </a:lnTo>
                  <a:lnTo>
                    <a:pt x="855311" y="821219"/>
                  </a:lnTo>
                  <a:lnTo>
                    <a:pt x="821219" y="855311"/>
                  </a:lnTo>
                  <a:lnTo>
                    <a:pt x="783950" y="885896"/>
                  </a:lnTo>
                  <a:lnTo>
                    <a:pt x="743862" y="912682"/>
                  </a:lnTo>
                  <a:lnTo>
                    <a:pt x="701342" y="935410"/>
                  </a:lnTo>
                  <a:lnTo>
                    <a:pt x="656799" y="953860"/>
                  </a:lnTo>
                  <a:lnTo>
                    <a:pt x="610663" y="967855"/>
                  </a:lnTo>
                  <a:lnTo>
                    <a:pt x="563376" y="977261"/>
                  </a:lnTo>
                  <a:lnTo>
                    <a:pt x="515395" y="981987"/>
                  </a:lnTo>
                  <a:lnTo>
                    <a:pt x="491289" y="982578"/>
                  </a:lnTo>
                  <a:close/>
                </a:path>
              </a:pathLst>
            </a:custGeom>
            <a:solidFill>
              <a:srgbClr val="0418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89070" y="5251523"/>
              <a:ext cx="579755" cy="453390"/>
            </a:xfrm>
            <a:custGeom>
              <a:avLst/>
              <a:gdLst/>
              <a:ahLst/>
              <a:cxnLst/>
              <a:rect l="l" t="t" r="r" b="b"/>
              <a:pathLst>
                <a:path w="579754" h="453389">
                  <a:moveTo>
                    <a:pt x="58829" y="392378"/>
                  </a:moveTo>
                  <a:lnTo>
                    <a:pt x="36533" y="384278"/>
                  </a:lnTo>
                  <a:lnTo>
                    <a:pt x="17502" y="368427"/>
                  </a:lnTo>
                  <a:lnTo>
                    <a:pt x="4707" y="346491"/>
                  </a:lnTo>
                  <a:lnTo>
                    <a:pt x="2861" y="340484"/>
                  </a:lnTo>
                  <a:lnTo>
                    <a:pt x="2791" y="340257"/>
                  </a:lnTo>
                  <a:lnTo>
                    <a:pt x="172" y="317330"/>
                  </a:lnTo>
                  <a:lnTo>
                    <a:pt x="49" y="277499"/>
                  </a:lnTo>
                  <a:lnTo>
                    <a:pt x="0" y="73162"/>
                  </a:lnTo>
                  <a:lnTo>
                    <a:pt x="19775" y="21295"/>
                  </a:lnTo>
                  <a:lnTo>
                    <a:pt x="69518" y="0"/>
                  </a:lnTo>
                  <a:lnTo>
                    <a:pt x="505320" y="0"/>
                  </a:lnTo>
                  <a:lnTo>
                    <a:pt x="536018" y="5521"/>
                  </a:lnTo>
                  <a:lnTo>
                    <a:pt x="559331" y="21167"/>
                  </a:lnTo>
                  <a:lnTo>
                    <a:pt x="562658" y="26664"/>
                  </a:lnTo>
                  <a:lnTo>
                    <a:pt x="72671" y="26664"/>
                  </a:lnTo>
                  <a:lnTo>
                    <a:pt x="53243" y="29985"/>
                  </a:lnTo>
                  <a:lnTo>
                    <a:pt x="38691" y="39473"/>
                  </a:lnTo>
                  <a:lnTo>
                    <a:pt x="29521" y="54533"/>
                  </a:lnTo>
                  <a:lnTo>
                    <a:pt x="26308" y="74559"/>
                  </a:lnTo>
                  <a:lnTo>
                    <a:pt x="26429" y="320260"/>
                  </a:lnTo>
                  <a:lnTo>
                    <a:pt x="29214" y="337348"/>
                  </a:lnTo>
                  <a:lnTo>
                    <a:pt x="29297" y="337857"/>
                  </a:lnTo>
                  <a:lnTo>
                    <a:pt x="37578" y="352291"/>
                  </a:lnTo>
                  <a:lnTo>
                    <a:pt x="50382" y="361966"/>
                  </a:lnTo>
                  <a:lnTo>
                    <a:pt x="66915" y="365886"/>
                  </a:lnTo>
                  <a:lnTo>
                    <a:pt x="76169" y="366371"/>
                  </a:lnTo>
                  <a:lnTo>
                    <a:pt x="80645" y="368223"/>
                  </a:lnTo>
                  <a:lnTo>
                    <a:pt x="82059" y="373478"/>
                  </a:lnTo>
                  <a:lnTo>
                    <a:pt x="82124" y="386523"/>
                  </a:lnTo>
                  <a:lnTo>
                    <a:pt x="81658" y="388874"/>
                  </a:lnTo>
                  <a:lnTo>
                    <a:pt x="81420" y="391062"/>
                  </a:lnTo>
                  <a:lnTo>
                    <a:pt x="58829" y="392378"/>
                  </a:lnTo>
                  <a:close/>
                </a:path>
                <a:path w="579754" h="453389">
                  <a:moveTo>
                    <a:pt x="501468" y="393521"/>
                  </a:moveTo>
                  <a:lnTo>
                    <a:pt x="496737" y="391761"/>
                  </a:lnTo>
                  <a:lnTo>
                    <a:pt x="498145" y="374349"/>
                  </a:lnTo>
                  <a:lnTo>
                    <a:pt x="495601" y="366371"/>
                  </a:lnTo>
                  <a:lnTo>
                    <a:pt x="495554" y="366223"/>
                  </a:lnTo>
                  <a:lnTo>
                    <a:pt x="509880" y="365886"/>
                  </a:lnTo>
                  <a:lnTo>
                    <a:pt x="508436" y="365886"/>
                  </a:lnTo>
                  <a:lnTo>
                    <a:pt x="550481" y="337348"/>
                  </a:lnTo>
                  <a:lnTo>
                    <a:pt x="553467" y="75503"/>
                  </a:lnTo>
                  <a:lnTo>
                    <a:pt x="550215" y="55050"/>
                  </a:lnTo>
                  <a:lnTo>
                    <a:pt x="540939" y="39692"/>
                  </a:lnTo>
                  <a:lnTo>
                    <a:pt x="526158" y="29985"/>
                  </a:lnTo>
                  <a:lnTo>
                    <a:pt x="525969" y="29985"/>
                  </a:lnTo>
                  <a:lnTo>
                    <a:pt x="506655" y="26664"/>
                  </a:lnTo>
                  <a:lnTo>
                    <a:pt x="562658" y="26664"/>
                  </a:lnTo>
                  <a:lnTo>
                    <a:pt x="574180" y="45704"/>
                  </a:lnTo>
                  <a:lnTo>
                    <a:pt x="579393" y="77882"/>
                  </a:lnTo>
                  <a:lnTo>
                    <a:pt x="579320" y="319659"/>
                  </a:lnTo>
                  <a:lnTo>
                    <a:pt x="573939" y="348147"/>
                  </a:lnTo>
                  <a:lnTo>
                    <a:pt x="559062" y="371494"/>
                  </a:lnTo>
                  <a:lnTo>
                    <a:pt x="536829" y="387279"/>
                  </a:lnTo>
                  <a:lnTo>
                    <a:pt x="509321" y="393376"/>
                  </a:lnTo>
                  <a:lnTo>
                    <a:pt x="501468" y="393521"/>
                  </a:lnTo>
                  <a:close/>
                </a:path>
                <a:path w="579754" h="453389">
                  <a:moveTo>
                    <a:pt x="435187" y="452497"/>
                  </a:moveTo>
                  <a:lnTo>
                    <a:pt x="406011" y="421466"/>
                  </a:lnTo>
                  <a:lnTo>
                    <a:pt x="405903" y="145068"/>
                  </a:lnTo>
                  <a:lnTo>
                    <a:pt x="408331" y="129895"/>
                  </a:lnTo>
                  <a:lnTo>
                    <a:pt x="415056" y="118125"/>
                  </a:lnTo>
                  <a:lnTo>
                    <a:pt x="425326" y="110492"/>
                  </a:lnTo>
                  <a:lnTo>
                    <a:pt x="438387" y="107732"/>
                  </a:lnTo>
                  <a:lnTo>
                    <a:pt x="451832" y="110351"/>
                  </a:lnTo>
                  <a:lnTo>
                    <a:pt x="462160" y="117963"/>
                  </a:lnTo>
                  <a:lnTo>
                    <a:pt x="468761" y="129895"/>
                  </a:lnTo>
                  <a:lnTo>
                    <a:pt x="471066" y="145068"/>
                  </a:lnTo>
                  <a:lnTo>
                    <a:pt x="471078" y="418319"/>
                  </a:lnTo>
                  <a:lnTo>
                    <a:pt x="469256" y="430256"/>
                  </a:lnTo>
                  <a:lnTo>
                    <a:pt x="464225" y="440080"/>
                  </a:lnTo>
                  <a:lnTo>
                    <a:pt x="456429" y="447369"/>
                  </a:lnTo>
                  <a:lnTo>
                    <a:pt x="446316" y="451699"/>
                  </a:lnTo>
                  <a:lnTo>
                    <a:pt x="435187" y="452497"/>
                  </a:lnTo>
                  <a:close/>
                </a:path>
                <a:path w="579754" h="453389">
                  <a:moveTo>
                    <a:pt x="240324" y="453386"/>
                  </a:moveTo>
                  <a:lnTo>
                    <a:pt x="225688" y="450558"/>
                  </a:lnTo>
                  <a:lnTo>
                    <a:pt x="226535" y="450558"/>
                  </a:lnTo>
                  <a:lnTo>
                    <a:pt x="217339" y="443820"/>
                  </a:lnTo>
                  <a:lnTo>
                    <a:pt x="216414" y="443105"/>
                  </a:lnTo>
                  <a:lnTo>
                    <a:pt x="209854" y="431386"/>
                  </a:lnTo>
                  <a:lnTo>
                    <a:pt x="209751" y="431201"/>
                  </a:lnTo>
                  <a:lnTo>
                    <a:pt x="207539" y="416694"/>
                  </a:lnTo>
                  <a:lnTo>
                    <a:pt x="207481" y="416312"/>
                  </a:lnTo>
                  <a:lnTo>
                    <a:pt x="207360" y="415519"/>
                  </a:lnTo>
                  <a:lnTo>
                    <a:pt x="207351" y="228473"/>
                  </a:lnTo>
                  <a:lnTo>
                    <a:pt x="209634" y="213098"/>
                  </a:lnTo>
                  <a:lnTo>
                    <a:pt x="209695" y="212685"/>
                  </a:lnTo>
                  <a:lnTo>
                    <a:pt x="216283" y="200589"/>
                  </a:lnTo>
                  <a:lnTo>
                    <a:pt x="226636" y="192738"/>
                  </a:lnTo>
                  <a:lnTo>
                    <a:pt x="226908" y="192738"/>
                  </a:lnTo>
                  <a:lnTo>
                    <a:pt x="239856" y="190004"/>
                  </a:lnTo>
                  <a:lnTo>
                    <a:pt x="253355" y="192738"/>
                  </a:lnTo>
                  <a:lnTo>
                    <a:pt x="263694" y="200589"/>
                  </a:lnTo>
                  <a:lnTo>
                    <a:pt x="270604" y="213098"/>
                  </a:lnTo>
                  <a:lnTo>
                    <a:pt x="272924" y="228473"/>
                  </a:lnTo>
                  <a:lnTo>
                    <a:pt x="272839" y="416312"/>
                  </a:lnTo>
                  <a:lnTo>
                    <a:pt x="270699" y="430256"/>
                  </a:lnTo>
                  <a:lnTo>
                    <a:pt x="270634" y="430682"/>
                  </a:lnTo>
                  <a:lnTo>
                    <a:pt x="263957" y="442752"/>
                  </a:lnTo>
                  <a:lnTo>
                    <a:pt x="253634" y="450558"/>
                  </a:lnTo>
                  <a:lnTo>
                    <a:pt x="240324" y="453386"/>
                  </a:lnTo>
                  <a:close/>
                </a:path>
                <a:path w="579754" h="453389">
                  <a:moveTo>
                    <a:pt x="352750" y="450558"/>
                  </a:moveTo>
                  <a:lnTo>
                    <a:pt x="326043" y="450558"/>
                  </a:lnTo>
                  <a:lnTo>
                    <a:pt x="315891" y="443105"/>
                  </a:lnTo>
                  <a:lnTo>
                    <a:pt x="309101" y="431386"/>
                  </a:lnTo>
                  <a:lnTo>
                    <a:pt x="306689" y="416694"/>
                  </a:lnTo>
                  <a:lnTo>
                    <a:pt x="306638" y="277499"/>
                  </a:lnTo>
                  <a:lnTo>
                    <a:pt x="309129" y="262359"/>
                  </a:lnTo>
                  <a:lnTo>
                    <a:pt x="315908" y="250652"/>
                  </a:lnTo>
                  <a:lnTo>
                    <a:pt x="326247" y="243077"/>
                  </a:lnTo>
                  <a:lnTo>
                    <a:pt x="339377" y="240406"/>
                  </a:lnTo>
                  <a:lnTo>
                    <a:pt x="352429" y="243077"/>
                  </a:lnTo>
                  <a:lnTo>
                    <a:pt x="362847" y="250652"/>
                  </a:lnTo>
                  <a:lnTo>
                    <a:pt x="369594" y="262359"/>
                  </a:lnTo>
                  <a:lnTo>
                    <a:pt x="372097" y="277499"/>
                  </a:lnTo>
                  <a:lnTo>
                    <a:pt x="372040" y="416694"/>
                  </a:lnTo>
                  <a:lnTo>
                    <a:pt x="369800" y="430256"/>
                  </a:lnTo>
                  <a:lnTo>
                    <a:pt x="369729" y="430682"/>
                  </a:lnTo>
                  <a:lnTo>
                    <a:pt x="369613" y="431386"/>
                  </a:lnTo>
                  <a:lnTo>
                    <a:pt x="369463" y="431701"/>
                  </a:lnTo>
                  <a:lnTo>
                    <a:pt x="362889" y="443105"/>
                  </a:lnTo>
                  <a:lnTo>
                    <a:pt x="361954" y="443820"/>
                  </a:lnTo>
                  <a:lnTo>
                    <a:pt x="352750" y="450558"/>
                  </a:lnTo>
                  <a:close/>
                </a:path>
                <a:path w="579754" h="453389">
                  <a:moveTo>
                    <a:pt x="139624" y="453386"/>
                  </a:moveTo>
                  <a:lnTo>
                    <a:pt x="139403" y="453386"/>
                  </a:lnTo>
                  <a:lnTo>
                    <a:pt x="126390" y="450558"/>
                  </a:lnTo>
                  <a:lnTo>
                    <a:pt x="126541" y="450558"/>
                  </a:lnTo>
                  <a:lnTo>
                    <a:pt x="117613" y="443820"/>
                  </a:lnTo>
                  <a:lnTo>
                    <a:pt x="108253" y="344328"/>
                  </a:lnTo>
                  <a:lnTo>
                    <a:pt x="110617" y="331020"/>
                  </a:lnTo>
                  <a:lnTo>
                    <a:pt x="116868" y="320260"/>
                  </a:lnTo>
                  <a:lnTo>
                    <a:pt x="126301" y="312834"/>
                  </a:lnTo>
                  <a:lnTo>
                    <a:pt x="138212" y="309525"/>
                  </a:lnTo>
                  <a:lnTo>
                    <a:pt x="150775" y="311110"/>
                  </a:lnTo>
                  <a:lnTo>
                    <a:pt x="173741" y="350376"/>
                  </a:lnTo>
                  <a:lnTo>
                    <a:pt x="173826" y="408293"/>
                  </a:lnTo>
                  <a:lnTo>
                    <a:pt x="173675" y="415060"/>
                  </a:lnTo>
                  <a:lnTo>
                    <a:pt x="173617" y="417633"/>
                  </a:lnTo>
                  <a:lnTo>
                    <a:pt x="170677" y="432441"/>
                  </a:lnTo>
                  <a:lnTo>
                    <a:pt x="163508" y="443820"/>
                  </a:lnTo>
                  <a:lnTo>
                    <a:pt x="152864" y="451050"/>
                  </a:lnTo>
                  <a:lnTo>
                    <a:pt x="139624" y="453386"/>
                  </a:lnTo>
                  <a:close/>
                </a:path>
                <a:path w="579754" h="453389">
                  <a:moveTo>
                    <a:pt x="339361" y="453386"/>
                  </a:moveTo>
                  <a:lnTo>
                    <a:pt x="325554" y="450558"/>
                  </a:lnTo>
                  <a:lnTo>
                    <a:pt x="353261" y="450558"/>
                  </a:lnTo>
                  <a:lnTo>
                    <a:pt x="339361" y="4533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7BD1A4AA-9881-8331-23CC-AAD4D48D901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09323" y="72682"/>
            <a:ext cx="2133600" cy="1166812"/>
          </a:xfrm>
          <a:prstGeom prst="rect">
            <a:avLst/>
          </a:prstGeom>
        </p:spPr>
      </p:pic>
      <p:sp>
        <p:nvSpPr>
          <p:cNvPr id="11" name="object 8">
            <a:extLst>
              <a:ext uri="{FF2B5EF4-FFF2-40B4-BE49-F238E27FC236}">
                <a16:creationId xmlns:a16="http://schemas.microsoft.com/office/drawing/2014/main" id="{DB61C103-8C41-7FEC-26D9-C96D6B0F3673}"/>
              </a:ext>
            </a:extLst>
          </p:cNvPr>
          <p:cNvSpPr/>
          <p:nvPr/>
        </p:nvSpPr>
        <p:spPr>
          <a:xfrm>
            <a:off x="3175" y="8023568"/>
            <a:ext cx="15551150" cy="666750"/>
          </a:xfrm>
          <a:custGeom>
            <a:avLst/>
            <a:gdLst/>
            <a:ahLst/>
            <a:cxnLst/>
            <a:rect l="l" t="t" r="r" b="b"/>
            <a:pathLst>
              <a:path w="20104100" h="666750">
                <a:moveTo>
                  <a:pt x="0" y="666300"/>
                </a:moveTo>
                <a:lnTo>
                  <a:pt x="0" y="0"/>
                </a:lnTo>
                <a:lnTo>
                  <a:pt x="20104100" y="0"/>
                </a:lnTo>
                <a:lnTo>
                  <a:pt x="20104100" y="666300"/>
                </a:lnTo>
                <a:lnTo>
                  <a:pt x="0" y="66630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578739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4" dirty="0"/>
              <a:t>What</a:t>
            </a:r>
            <a:r>
              <a:rPr spc="-165" dirty="0"/>
              <a:t> </a:t>
            </a:r>
            <a:r>
              <a:rPr spc="-245" dirty="0"/>
              <a:t>is</a:t>
            </a:r>
            <a:r>
              <a:rPr spc="-165" dirty="0"/>
              <a:t> </a:t>
            </a:r>
            <a:r>
              <a:rPr spc="50" dirty="0"/>
              <a:t>a</a:t>
            </a:r>
            <a:r>
              <a:rPr spc="-195" dirty="0"/>
              <a:t> </a:t>
            </a:r>
            <a:r>
              <a:rPr spc="-60" dirty="0"/>
              <a:t>case</a:t>
            </a:r>
            <a:r>
              <a:rPr spc="-170" dirty="0"/>
              <a:t> study?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5824855" cy="1729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Apply</a:t>
            </a:r>
            <a:r>
              <a:rPr sz="2550" spc="-9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Power</a:t>
            </a:r>
            <a:r>
              <a:rPr sz="2550" spc="-8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BI</a:t>
            </a:r>
            <a:r>
              <a:rPr sz="2550" spc="-9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skills</a:t>
            </a:r>
            <a:endParaRPr sz="2550">
              <a:latin typeface="Tahoma"/>
              <a:cs typeface="Tahoma"/>
            </a:endParaRPr>
          </a:p>
          <a:p>
            <a:pPr marL="12700" marR="5080">
              <a:lnSpc>
                <a:spcPts val="5160"/>
              </a:lnSpc>
              <a:spcBef>
                <a:spcPts val="320"/>
              </a:spcBef>
            </a:pP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Combine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previously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learned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concepts </a:t>
            </a:r>
            <a:r>
              <a:rPr sz="2550" spc="60" dirty="0">
                <a:solidFill>
                  <a:srgbClr val="04182D"/>
                </a:solidFill>
                <a:latin typeface="Tahoma"/>
                <a:cs typeface="Tahoma"/>
              </a:rPr>
              <a:t>Solve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Tahoma"/>
                <a:cs typeface="Tahoma"/>
              </a:rPr>
              <a:t>an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example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real-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world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problem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7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4953834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5608886"/>
            <a:ext cx="102352" cy="1023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6263939"/>
            <a:ext cx="102352" cy="10235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78589" y="3958555"/>
            <a:ext cx="4967605" cy="2547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spc="-80" dirty="0">
                <a:solidFill>
                  <a:srgbClr val="04182D"/>
                </a:solidFill>
                <a:latin typeface="Tahoma"/>
                <a:cs typeface="Tahoma"/>
              </a:rPr>
              <a:t>Prerequisite</a:t>
            </a:r>
            <a:r>
              <a:rPr sz="2550" b="1" spc="-10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Tahoma"/>
                <a:cs typeface="Tahoma"/>
              </a:rPr>
              <a:t>courses:</a:t>
            </a:r>
            <a:endParaRPr sz="2550" dirty="0">
              <a:latin typeface="Tahoma"/>
              <a:cs typeface="Tahoma"/>
            </a:endParaRPr>
          </a:p>
          <a:p>
            <a:pPr marL="381000" marR="5080">
              <a:lnSpc>
                <a:spcPct val="168600"/>
              </a:lnSpc>
              <a:spcBef>
                <a:spcPts val="1290"/>
              </a:spcBef>
            </a:pP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Intermediate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Tahoma"/>
                <a:cs typeface="Tahoma"/>
              </a:rPr>
              <a:t>DAX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in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Power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BI </a:t>
            </a:r>
            <a:r>
              <a:rPr sz="2550" spc="160" dirty="0">
                <a:solidFill>
                  <a:srgbClr val="04182D"/>
                </a:solidFill>
                <a:latin typeface="Tahoma"/>
                <a:cs typeface="Tahoma"/>
              </a:rPr>
              <a:t>Data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Modelling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in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Power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BI </a:t>
            </a:r>
            <a:r>
              <a:rPr sz="2550" spc="160" dirty="0">
                <a:solidFill>
                  <a:srgbClr val="04182D"/>
                </a:solidFill>
                <a:latin typeface="Tahoma"/>
                <a:cs typeface="Tahoma"/>
              </a:rPr>
              <a:t>Data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Visualization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in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Power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BI</a:t>
            </a:r>
            <a:endParaRPr sz="2550" dirty="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42512" y="1166811"/>
            <a:ext cx="7123696" cy="6530054"/>
          </a:xfrm>
          <a:prstGeom prst="rect">
            <a:avLst/>
          </a:prstGeom>
        </p:spPr>
      </p:pic>
      <p:pic>
        <p:nvPicPr>
          <p:cNvPr id="15" name="object 3">
            <a:extLst>
              <a:ext uri="{FF2B5EF4-FFF2-40B4-BE49-F238E27FC236}">
                <a16:creationId xmlns:a16="http://schemas.microsoft.com/office/drawing/2014/main" id="{3407F2D5-2ED6-7ADF-0E6A-512B6AC1BE14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112750" y="0"/>
            <a:ext cx="2133600" cy="1166812"/>
          </a:xfrm>
          <a:prstGeom prst="rect">
            <a:avLst/>
          </a:prstGeom>
        </p:spPr>
      </p:pic>
      <p:sp>
        <p:nvSpPr>
          <p:cNvPr id="16" name="object 8">
            <a:extLst>
              <a:ext uri="{FF2B5EF4-FFF2-40B4-BE49-F238E27FC236}">
                <a16:creationId xmlns:a16="http://schemas.microsoft.com/office/drawing/2014/main" id="{4D2095BA-D1CE-6DE5-B173-0F5D8A8FA18E}"/>
              </a:ext>
            </a:extLst>
          </p:cNvPr>
          <p:cNvSpPr/>
          <p:nvPr/>
        </p:nvSpPr>
        <p:spPr>
          <a:xfrm>
            <a:off x="3175" y="8023568"/>
            <a:ext cx="15551150" cy="666750"/>
          </a:xfrm>
          <a:custGeom>
            <a:avLst/>
            <a:gdLst/>
            <a:ahLst/>
            <a:cxnLst/>
            <a:rect l="l" t="t" r="r" b="b"/>
            <a:pathLst>
              <a:path w="20104100" h="666750">
                <a:moveTo>
                  <a:pt x="0" y="666300"/>
                </a:moveTo>
                <a:lnTo>
                  <a:pt x="0" y="0"/>
                </a:lnTo>
                <a:lnTo>
                  <a:pt x="20104100" y="0"/>
                </a:lnTo>
                <a:lnTo>
                  <a:pt x="20104100" y="666300"/>
                </a:lnTo>
                <a:lnTo>
                  <a:pt x="0" y="66630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85" dirty="0"/>
              <a:t>Report</a:t>
            </a:r>
            <a:r>
              <a:rPr spc="-155" dirty="0"/>
              <a:t> </a:t>
            </a:r>
            <a:r>
              <a:rPr spc="-254" dirty="0"/>
              <a:t>development</a:t>
            </a:r>
            <a:r>
              <a:rPr spc="-150" dirty="0"/>
              <a:t> </a:t>
            </a:r>
            <a:r>
              <a:rPr spc="-265" dirty="0"/>
              <a:t>in</a:t>
            </a:r>
            <a:r>
              <a:rPr spc="-155" dirty="0"/>
              <a:t> </a:t>
            </a:r>
            <a:r>
              <a:rPr spc="-310" dirty="0"/>
              <a:t>Power</a:t>
            </a:r>
            <a:r>
              <a:rPr spc="-150" dirty="0"/>
              <a:t> </a:t>
            </a:r>
            <a:r>
              <a:rPr spc="-645" dirty="0"/>
              <a:t>BI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794" y="1371122"/>
            <a:ext cx="14106438" cy="374686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663" y="7499932"/>
            <a:ext cx="1218184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550" spc="-472" baseline="26143" dirty="0">
                <a:solidFill>
                  <a:srgbClr val="04182D"/>
                </a:solidFill>
                <a:latin typeface="Tahoma"/>
                <a:cs typeface="Tahoma"/>
              </a:rPr>
              <a:t>1</a:t>
            </a:r>
            <a:r>
              <a:rPr sz="2550" spc="240" baseline="26143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04182D"/>
                </a:solidFill>
                <a:latin typeface="Tahoma"/>
                <a:cs typeface="Tahoma"/>
              </a:rPr>
              <a:t>Note:</a:t>
            </a:r>
            <a:r>
              <a:rPr sz="22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04182D"/>
                </a:solidFill>
                <a:latin typeface="Tahoma"/>
                <a:cs typeface="Tahoma"/>
              </a:rPr>
              <a:t>This</a:t>
            </a:r>
            <a:r>
              <a:rPr sz="22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250" spc="90" dirty="0">
                <a:solidFill>
                  <a:srgbClr val="04182D"/>
                </a:solidFill>
                <a:latin typeface="Tahoma"/>
                <a:cs typeface="Tahoma"/>
              </a:rPr>
              <a:t>process</a:t>
            </a:r>
            <a:r>
              <a:rPr sz="22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250" spc="100" dirty="0">
                <a:solidFill>
                  <a:srgbClr val="04182D"/>
                </a:solidFill>
                <a:latin typeface="Tahoma"/>
                <a:cs typeface="Tahoma"/>
              </a:rPr>
              <a:t>applies</a:t>
            </a:r>
            <a:r>
              <a:rPr sz="22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250" spc="110" dirty="0">
                <a:solidFill>
                  <a:srgbClr val="04182D"/>
                </a:solidFill>
                <a:latin typeface="Tahoma"/>
                <a:cs typeface="Tahoma"/>
              </a:rPr>
              <a:t>specifically</a:t>
            </a:r>
            <a:r>
              <a:rPr sz="22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2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250" spc="80" dirty="0">
                <a:solidFill>
                  <a:srgbClr val="04182D"/>
                </a:solidFill>
                <a:latin typeface="Tahoma"/>
                <a:cs typeface="Tahoma"/>
              </a:rPr>
              <a:t>developing</a:t>
            </a:r>
            <a:r>
              <a:rPr sz="22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250" spc="19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2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04182D"/>
                </a:solidFill>
                <a:latin typeface="Tahoma"/>
                <a:cs typeface="Tahoma"/>
              </a:rPr>
              <a:t>report,</a:t>
            </a:r>
            <a:r>
              <a:rPr sz="22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04182D"/>
                </a:solidFill>
                <a:latin typeface="Tahoma"/>
                <a:cs typeface="Tahoma"/>
              </a:rPr>
              <a:t>not</a:t>
            </a:r>
            <a:r>
              <a:rPr sz="22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2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250" spc="110" dirty="0">
                <a:solidFill>
                  <a:srgbClr val="04182D"/>
                </a:solidFill>
                <a:latin typeface="Tahoma"/>
                <a:cs typeface="Tahoma"/>
              </a:rPr>
              <a:t>analyzing</a:t>
            </a:r>
            <a:r>
              <a:rPr sz="22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250" spc="19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2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250" spc="70" dirty="0">
                <a:solidFill>
                  <a:srgbClr val="04182D"/>
                </a:solidFill>
                <a:latin typeface="Tahoma"/>
                <a:cs typeface="Tahoma"/>
              </a:rPr>
              <a:t>dataset.</a:t>
            </a:r>
            <a:endParaRPr sz="2250">
              <a:latin typeface="Tahoma"/>
              <a:cs typeface="Tahoma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CD238440-A0F9-A4FD-6A4E-7662631D40F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09323" y="72682"/>
            <a:ext cx="2133600" cy="1166812"/>
          </a:xfrm>
          <a:prstGeom prst="rect">
            <a:avLst/>
          </a:prstGeom>
        </p:spPr>
      </p:pic>
      <p:sp>
        <p:nvSpPr>
          <p:cNvPr id="9" name="object 8">
            <a:extLst>
              <a:ext uri="{FF2B5EF4-FFF2-40B4-BE49-F238E27FC236}">
                <a16:creationId xmlns:a16="http://schemas.microsoft.com/office/drawing/2014/main" id="{BF6CB1B7-22AD-E411-A156-3CFEA6FB83D1}"/>
              </a:ext>
            </a:extLst>
          </p:cNvPr>
          <p:cNvSpPr/>
          <p:nvPr/>
        </p:nvSpPr>
        <p:spPr>
          <a:xfrm>
            <a:off x="3175" y="8023568"/>
            <a:ext cx="15551150" cy="666750"/>
          </a:xfrm>
          <a:custGeom>
            <a:avLst/>
            <a:gdLst/>
            <a:ahLst/>
            <a:cxnLst/>
            <a:rect l="l" t="t" r="r" b="b"/>
            <a:pathLst>
              <a:path w="20104100" h="666750">
                <a:moveTo>
                  <a:pt x="0" y="666300"/>
                </a:moveTo>
                <a:lnTo>
                  <a:pt x="0" y="0"/>
                </a:lnTo>
                <a:lnTo>
                  <a:pt x="20104100" y="0"/>
                </a:lnTo>
                <a:lnTo>
                  <a:pt x="20104100" y="666300"/>
                </a:lnTo>
                <a:lnTo>
                  <a:pt x="0" y="66630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85" dirty="0"/>
              <a:t>Report</a:t>
            </a:r>
            <a:r>
              <a:rPr spc="-155" dirty="0"/>
              <a:t> </a:t>
            </a:r>
            <a:r>
              <a:rPr spc="-254" dirty="0"/>
              <a:t>development</a:t>
            </a:r>
            <a:r>
              <a:rPr spc="-150" dirty="0"/>
              <a:t> </a:t>
            </a:r>
            <a:r>
              <a:rPr spc="-265" dirty="0"/>
              <a:t>in</a:t>
            </a:r>
            <a:r>
              <a:rPr spc="-155" dirty="0"/>
              <a:t> </a:t>
            </a:r>
            <a:r>
              <a:rPr spc="-310" dirty="0"/>
              <a:t>Power</a:t>
            </a:r>
            <a:r>
              <a:rPr spc="-150" dirty="0"/>
              <a:t> </a:t>
            </a:r>
            <a:r>
              <a:rPr spc="-645" dirty="0"/>
              <a:t>BI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794" y="1371123"/>
            <a:ext cx="14106438" cy="3746866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494E37DD-2BD9-43F0-DEDA-1BBA6F4CF1D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09323" y="72682"/>
            <a:ext cx="2133600" cy="1166812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D50DE3FE-BFBD-4603-CAEC-1A5FB2621C5D}"/>
              </a:ext>
            </a:extLst>
          </p:cNvPr>
          <p:cNvSpPr/>
          <p:nvPr/>
        </p:nvSpPr>
        <p:spPr>
          <a:xfrm>
            <a:off x="3175" y="8023568"/>
            <a:ext cx="15551150" cy="666750"/>
          </a:xfrm>
          <a:custGeom>
            <a:avLst/>
            <a:gdLst/>
            <a:ahLst/>
            <a:cxnLst/>
            <a:rect l="l" t="t" r="r" b="b"/>
            <a:pathLst>
              <a:path w="20104100" h="666750">
                <a:moveTo>
                  <a:pt x="0" y="666300"/>
                </a:moveTo>
                <a:lnTo>
                  <a:pt x="0" y="0"/>
                </a:lnTo>
                <a:lnTo>
                  <a:pt x="20104100" y="0"/>
                </a:lnTo>
                <a:lnTo>
                  <a:pt x="20104100" y="666300"/>
                </a:lnTo>
                <a:lnTo>
                  <a:pt x="0" y="66630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85" dirty="0"/>
              <a:t>Report</a:t>
            </a:r>
            <a:r>
              <a:rPr spc="-155" dirty="0"/>
              <a:t> </a:t>
            </a:r>
            <a:r>
              <a:rPr spc="-254" dirty="0"/>
              <a:t>development</a:t>
            </a:r>
            <a:r>
              <a:rPr spc="-150" dirty="0"/>
              <a:t> </a:t>
            </a:r>
            <a:r>
              <a:rPr spc="-265" dirty="0"/>
              <a:t>in</a:t>
            </a:r>
            <a:r>
              <a:rPr spc="-155" dirty="0"/>
              <a:t> </a:t>
            </a:r>
            <a:r>
              <a:rPr spc="-310" dirty="0"/>
              <a:t>Power</a:t>
            </a:r>
            <a:r>
              <a:rPr spc="-150" dirty="0"/>
              <a:t> </a:t>
            </a:r>
            <a:r>
              <a:rPr spc="-645" dirty="0"/>
              <a:t>BI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766" y="1419897"/>
            <a:ext cx="14027409" cy="4778310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D2D89F00-8C90-13D5-B4CF-00CCC9CE78D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09323" y="72682"/>
            <a:ext cx="2133600" cy="1166812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012172C1-5E64-2F3F-5AC6-3A515F7B54A7}"/>
              </a:ext>
            </a:extLst>
          </p:cNvPr>
          <p:cNvSpPr/>
          <p:nvPr/>
        </p:nvSpPr>
        <p:spPr>
          <a:xfrm>
            <a:off x="3175" y="8023568"/>
            <a:ext cx="15551150" cy="666750"/>
          </a:xfrm>
          <a:custGeom>
            <a:avLst/>
            <a:gdLst/>
            <a:ahLst/>
            <a:cxnLst/>
            <a:rect l="l" t="t" r="r" b="b"/>
            <a:pathLst>
              <a:path w="20104100" h="666750">
                <a:moveTo>
                  <a:pt x="0" y="666300"/>
                </a:moveTo>
                <a:lnTo>
                  <a:pt x="0" y="0"/>
                </a:lnTo>
                <a:lnTo>
                  <a:pt x="20104100" y="0"/>
                </a:lnTo>
                <a:lnTo>
                  <a:pt x="20104100" y="666300"/>
                </a:lnTo>
                <a:lnTo>
                  <a:pt x="0" y="66630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85" dirty="0"/>
              <a:t>Report</a:t>
            </a:r>
            <a:r>
              <a:rPr spc="-155" dirty="0"/>
              <a:t> </a:t>
            </a:r>
            <a:r>
              <a:rPr spc="-254" dirty="0"/>
              <a:t>development</a:t>
            </a:r>
            <a:r>
              <a:rPr spc="-150" dirty="0"/>
              <a:t> </a:t>
            </a:r>
            <a:r>
              <a:rPr spc="-265" dirty="0"/>
              <a:t>in</a:t>
            </a:r>
            <a:r>
              <a:rPr spc="-155" dirty="0"/>
              <a:t> </a:t>
            </a:r>
            <a:r>
              <a:rPr spc="-310" dirty="0"/>
              <a:t>Power</a:t>
            </a:r>
            <a:r>
              <a:rPr spc="-150" dirty="0"/>
              <a:t> </a:t>
            </a:r>
            <a:r>
              <a:rPr spc="-645" dirty="0"/>
              <a:t>BI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750" y="1588817"/>
            <a:ext cx="13675075" cy="4591414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426A18CD-96F5-27BF-EB00-EFD76D94F5F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09323" y="72682"/>
            <a:ext cx="2133600" cy="1166812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FCC02CB5-A617-9FFE-B32A-27502E27309A}"/>
              </a:ext>
            </a:extLst>
          </p:cNvPr>
          <p:cNvSpPr/>
          <p:nvPr/>
        </p:nvSpPr>
        <p:spPr>
          <a:xfrm>
            <a:off x="3175" y="8023568"/>
            <a:ext cx="15551150" cy="666750"/>
          </a:xfrm>
          <a:custGeom>
            <a:avLst/>
            <a:gdLst/>
            <a:ahLst/>
            <a:cxnLst/>
            <a:rect l="l" t="t" r="r" b="b"/>
            <a:pathLst>
              <a:path w="20104100" h="666750">
                <a:moveTo>
                  <a:pt x="0" y="666300"/>
                </a:moveTo>
                <a:lnTo>
                  <a:pt x="0" y="0"/>
                </a:lnTo>
                <a:lnTo>
                  <a:pt x="20104100" y="0"/>
                </a:lnTo>
                <a:lnTo>
                  <a:pt x="20104100" y="666300"/>
                </a:lnTo>
                <a:lnTo>
                  <a:pt x="0" y="66630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456882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Case</a:t>
            </a:r>
            <a:r>
              <a:rPr spc="-190" dirty="0"/>
              <a:t> </a:t>
            </a:r>
            <a:r>
              <a:rPr spc="-225" dirty="0"/>
              <a:t>study</a:t>
            </a:r>
            <a:r>
              <a:rPr spc="-165" dirty="0"/>
              <a:t> </a:t>
            </a:r>
            <a:r>
              <a:rPr spc="-105" dirty="0"/>
              <a:t>goals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076324"/>
            <a:ext cx="6427470" cy="2154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49225">
              <a:lnSpc>
                <a:spcPct val="126400"/>
              </a:lnSpc>
              <a:spcBef>
                <a:spcPts val="95"/>
              </a:spcBef>
            </a:pPr>
            <a:r>
              <a:rPr sz="2550" b="1" spc="-35" dirty="0">
                <a:solidFill>
                  <a:srgbClr val="04182D"/>
                </a:solidFill>
                <a:latin typeface="Tahoma"/>
                <a:cs typeface="Tahoma"/>
              </a:rPr>
              <a:t>Primary</a:t>
            </a:r>
            <a:r>
              <a:rPr sz="2550" b="1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60" dirty="0">
                <a:solidFill>
                  <a:srgbClr val="04182D"/>
                </a:solidFill>
                <a:latin typeface="Tahoma"/>
                <a:cs typeface="Tahoma"/>
              </a:rPr>
              <a:t>goal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:</a:t>
            </a:r>
            <a:r>
              <a:rPr sz="2550" spc="-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Monitor</a:t>
            </a:r>
            <a:r>
              <a:rPr sz="2550" spc="-7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key</a:t>
            </a:r>
            <a:r>
              <a:rPr sz="2550" spc="-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HR</a:t>
            </a:r>
            <a:r>
              <a:rPr sz="2550" spc="-7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metrics</a:t>
            </a:r>
            <a:r>
              <a:rPr sz="2550" spc="-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on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employees</a:t>
            </a:r>
            <a:endParaRPr sz="2550">
              <a:latin typeface="Tahoma"/>
              <a:cs typeface="Tahoma"/>
            </a:endParaRPr>
          </a:p>
          <a:p>
            <a:pPr marL="12700" marR="5080">
              <a:lnSpc>
                <a:spcPct val="126400"/>
              </a:lnSpc>
              <a:spcBef>
                <a:spcPts val="1290"/>
              </a:spcBef>
            </a:pPr>
            <a:r>
              <a:rPr sz="2550" b="1" spc="-20" dirty="0">
                <a:solidFill>
                  <a:srgbClr val="04182D"/>
                </a:solidFill>
                <a:latin typeface="Tahoma"/>
                <a:cs typeface="Tahoma"/>
              </a:rPr>
              <a:t>Secondary</a:t>
            </a:r>
            <a:r>
              <a:rPr sz="2550" b="1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60" dirty="0">
                <a:solidFill>
                  <a:srgbClr val="04182D"/>
                </a:solidFill>
                <a:latin typeface="Tahoma"/>
                <a:cs typeface="Tahoma"/>
              </a:rPr>
              <a:t>goal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:</a:t>
            </a:r>
            <a:r>
              <a:rPr sz="2550" spc="-9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Understand</a:t>
            </a:r>
            <a:r>
              <a:rPr sz="2550" spc="-8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what</a:t>
            </a:r>
            <a:r>
              <a:rPr sz="2550" spc="-9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factors </a:t>
            </a: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impact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attrition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497387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42512" y="1166812"/>
            <a:ext cx="7123695" cy="3500436"/>
          </a:xfrm>
          <a:prstGeom prst="rect">
            <a:avLst/>
          </a:prstGeom>
        </p:spPr>
      </p:pic>
      <p:pic>
        <p:nvPicPr>
          <p:cNvPr id="10" name="object 3">
            <a:extLst>
              <a:ext uri="{FF2B5EF4-FFF2-40B4-BE49-F238E27FC236}">
                <a16:creationId xmlns:a16="http://schemas.microsoft.com/office/drawing/2014/main" id="{1534E393-7A87-E6EA-D77B-97F939D473E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12750" y="0"/>
            <a:ext cx="2133600" cy="1166812"/>
          </a:xfrm>
          <a:prstGeom prst="rect">
            <a:avLst/>
          </a:prstGeom>
        </p:spPr>
      </p:pic>
      <p:sp>
        <p:nvSpPr>
          <p:cNvPr id="11" name="object 8">
            <a:extLst>
              <a:ext uri="{FF2B5EF4-FFF2-40B4-BE49-F238E27FC236}">
                <a16:creationId xmlns:a16="http://schemas.microsoft.com/office/drawing/2014/main" id="{987DF12B-AC80-8710-D201-CB1AE40E1D43}"/>
              </a:ext>
            </a:extLst>
          </p:cNvPr>
          <p:cNvSpPr/>
          <p:nvPr/>
        </p:nvSpPr>
        <p:spPr>
          <a:xfrm>
            <a:off x="3175" y="8023568"/>
            <a:ext cx="15551150" cy="666750"/>
          </a:xfrm>
          <a:custGeom>
            <a:avLst/>
            <a:gdLst/>
            <a:ahLst/>
            <a:cxnLst/>
            <a:rect l="l" t="t" r="r" b="b"/>
            <a:pathLst>
              <a:path w="20104100" h="666750">
                <a:moveTo>
                  <a:pt x="0" y="666300"/>
                </a:moveTo>
                <a:lnTo>
                  <a:pt x="0" y="0"/>
                </a:lnTo>
                <a:lnTo>
                  <a:pt x="20104100" y="0"/>
                </a:lnTo>
                <a:lnTo>
                  <a:pt x="20104100" y="666300"/>
                </a:lnTo>
                <a:lnTo>
                  <a:pt x="0" y="66630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612521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20" dirty="0"/>
              <a:t>The</a:t>
            </a:r>
            <a:r>
              <a:rPr spc="-165" dirty="0"/>
              <a:t> </a:t>
            </a:r>
            <a:r>
              <a:rPr spc="-229" dirty="0"/>
              <a:t>dataset:</a:t>
            </a:r>
            <a:r>
              <a:rPr spc="-165" dirty="0"/>
              <a:t> </a:t>
            </a:r>
            <a:r>
              <a:rPr spc="-60" dirty="0"/>
              <a:t>Fact</a:t>
            </a:r>
            <a:r>
              <a:rPr spc="-200" dirty="0"/>
              <a:t> </a:t>
            </a:r>
            <a:r>
              <a:rPr spc="-110" dirty="0"/>
              <a:t>table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91289" y="1166812"/>
          <a:ext cx="14554200" cy="4213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91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2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3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Column</a:t>
                      </a:r>
                      <a:r>
                        <a:rPr sz="2550" b="1" spc="-13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b="1" spc="-2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name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Description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7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PerformanceID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254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2550" spc="-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8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unique</a:t>
                      </a:r>
                      <a:r>
                        <a:rPr sz="2550" spc="-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0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id</a:t>
                      </a:r>
                      <a:r>
                        <a:rPr sz="2550" spc="-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14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that</a:t>
                      </a:r>
                      <a:r>
                        <a:rPr sz="2550" spc="-3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8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identifies</a:t>
                      </a:r>
                      <a:r>
                        <a:rPr sz="2550" spc="-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22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2550" spc="-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14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performance</a:t>
                      </a:r>
                      <a:r>
                        <a:rPr sz="2550" spc="-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6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review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075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1880"/>
                        </a:spcBef>
                      </a:pPr>
                      <a:r>
                        <a:rPr sz="2550" spc="8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EmployeeID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2387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 marR="661670">
                        <a:lnSpc>
                          <a:spcPts val="2580"/>
                        </a:lnSpc>
                        <a:spcBef>
                          <a:spcPts val="1080"/>
                        </a:spcBef>
                      </a:pPr>
                      <a:r>
                        <a:rPr sz="2550" spc="254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2550" spc="-5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8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unique</a:t>
                      </a:r>
                      <a:r>
                        <a:rPr sz="2550" spc="-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ID</a:t>
                      </a:r>
                      <a:r>
                        <a:rPr sz="2550" spc="-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14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that</a:t>
                      </a:r>
                      <a:r>
                        <a:rPr sz="2550" spc="-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8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identifies</a:t>
                      </a:r>
                      <a:r>
                        <a:rPr sz="2550" spc="-5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an</a:t>
                      </a:r>
                      <a:r>
                        <a:rPr sz="2550" spc="-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9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employee.</a:t>
                      </a:r>
                      <a:r>
                        <a:rPr sz="2550" spc="-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4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Connects</a:t>
                      </a:r>
                      <a:r>
                        <a:rPr sz="2550" spc="-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8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sz="2550" spc="-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2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Employee </a:t>
                      </a:r>
                      <a:r>
                        <a:rPr sz="2550" spc="6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table.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1371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8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ReviewDate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Date</a:t>
                      </a:r>
                      <a:r>
                        <a:rPr sz="2550" spc="-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an</a:t>
                      </a:r>
                      <a:r>
                        <a:rPr sz="2550" spc="-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0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employees'</a:t>
                      </a:r>
                      <a:r>
                        <a:rPr sz="2550" spc="-3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7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review</a:t>
                      </a:r>
                      <a:r>
                        <a:rPr sz="2550" spc="-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9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took</a:t>
                      </a:r>
                      <a:r>
                        <a:rPr sz="2550" spc="-3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9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place.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075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1880"/>
                        </a:spcBef>
                      </a:pPr>
                      <a:r>
                        <a:rPr sz="2550" spc="7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EnvironmentSatisfaction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2387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 marR="1619250">
                        <a:lnSpc>
                          <a:spcPts val="2580"/>
                        </a:lnSpc>
                        <a:spcBef>
                          <a:spcPts val="1080"/>
                        </a:spcBef>
                      </a:pPr>
                      <a:r>
                        <a:rPr sz="2550" spc="8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Rating</a:t>
                      </a:r>
                      <a:r>
                        <a:rPr sz="2550" spc="-3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sz="2550" spc="-3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0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employees'</a:t>
                      </a:r>
                      <a:r>
                        <a:rPr sz="2550" spc="-3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0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satisfaction</a:t>
                      </a:r>
                      <a:r>
                        <a:rPr sz="2550" spc="-3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with</a:t>
                      </a:r>
                      <a:r>
                        <a:rPr sz="2550" spc="-3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their</a:t>
                      </a:r>
                      <a:r>
                        <a:rPr sz="2550" spc="-3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3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environment. </a:t>
                      </a:r>
                      <a:r>
                        <a:rPr sz="2550" spc="14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Connects</a:t>
                      </a:r>
                      <a:r>
                        <a:rPr sz="2550" spc="-4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8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sz="2550" spc="-4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0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Satisfied</a:t>
                      </a:r>
                      <a:r>
                        <a:rPr sz="2550" spc="-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7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Level</a:t>
                      </a:r>
                      <a:r>
                        <a:rPr sz="2550" spc="-4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6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table.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1371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...</a:t>
                      </a:r>
                      <a:endParaRPr sz="2550" dirty="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848F0D4A-764D-F61E-6168-AB339DE9E21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12750" y="0"/>
            <a:ext cx="2133600" cy="1166812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406C1F1B-DF09-E132-80FF-21B2F0906536}"/>
              </a:ext>
            </a:extLst>
          </p:cNvPr>
          <p:cNvSpPr/>
          <p:nvPr/>
        </p:nvSpPr>
        <p:spPr>
          <a:xfrm>
            <a:off x="3175" y="8023568"/>
            <a:ext cx="15551150" cy="666750"/>
          </a:xfrm>
          <a:custGeom>
            <a:avLst/>
            <a:gdLst/>
            <a:ahLst/>
            <a:cxnLst/>
            <a:rect l="l" t="t" r="r" b="b"/>
            <a:pathLst>
              <a:path w="20104100" h="666750">
                <a:moveTo>
                  <a:pt x="0" y="666300"/>
                </a:moveTo>
                <a:lnTo>
                  <a:pt x="0" y="0"/>
                </a:lnTo>
                <a:lnTo>
                  <a:pt x="20104100" y="0"/>
                </a:lnTo>
                <a:lnTo>
                  <a:pt x="20104100" y="666300"/>
                </a:lnTo>
                <a:lnTo>
                  <a:pt x="0" y="66630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39"/>
            <a:ext cx="102352" cy="1023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2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45"/>
            <a:ext cx="102352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197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971250"/>
            <a:ext cx="102352" cy="1023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78589" y="-98680"/>
            <a:ext cx="7964170" cy="4312285"/>
          </a:xfrm>
          <a:prstGeom prst="rect">
            <a:avLst/>
          </a:prstGeom>
        </p:spPr>
        <p:txBody>
          <a:bodyPr vert="horz" wrap="square" lIns="0" tIns="386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45"/>
              </a:spcBef>
            </a:pPr>
            <a:r>
              <a:rPr spc="-220" dirty="0"/>
              <a:t>The</a:t>
            </a:r>
            <a:r>
              <a:rPr spc="-145" dirty="0"/>
              <a:t> </a:t>
            </a:r>
            <a:r>
              <a:rPr spc="-229" dirty="0"/>
              <a:t>dataset:</a:t>
            </a:r>
            <a:r>
              <a:rPr spc="-145" dirty="0"/>
              <a:t> </a:t>
            </a:r>
            <a:r>
              <a:rPr spc="-260" dirty="0"/>
              <a:t>Dimension</a:t>
            </a:r>
            <a:r>
              <a:rPr spc="-145" dirty="0"/>
              <a:t> </a:t>
            </a:r>
            <a:r>
              <a:rPr spc="-125" dirty="0"/>
              <a:t>tables</a:t>
            </a:r>
          </a:p>
          <a:p>
            <a:pPr marL="381000" marR="5245100">
              <a:lnSpc>
                <a:spcPts val="5160"/>
              </a:lnSpc>
            </a:pPr>
            <a:r>
              <a:rPr sz="2550" b="0" spc="125" dirty="0">
                <a:latin typeface="Tahoma"/>
                <a:cs typeface="Tahoma"/>
              </a:rPr>
              <a:t>Employee </a:t>
            </a:r>
            <a:r>
              <a:rPr sz="2550" b="0" spc="85" dirty="0">
                <a:latin typeface="Tahoma"/>
                <a:cs typeface="Tahoma"/>
              </a:rPr>
              <a:t>EducationLevel </a:t>
            </a:r>
            <a:r>
              <a:rPr sz="2550" b="0" spc="65" dirty="0">
                <a:latin typeface="Tahoma"/>
                <a:cs typeface="Tahoma"/>
              </a:rPr>
              <a:t>RatingLevel </a:t>
            </a:r>
            <a:r>
              <a:rPr sz="2550" b="0" spc="75" dirty="0">
                <a:latin typeface="Tahoma"/>
                <a:cs typeface="Tahoma"/>
              </a:rPr>
              <a:t>SatisfiedLevel </a:t>
            </a:r>
            <a:r>
              <a:rPr sz="2550" b="0" spc="120" dirty="0">
                <a:latin typeface="Tahoma"/>
                <a:cs typeface="Tahoma"/>
              </a:rPr>
              <a:t>Date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0BCFAAE4-FC5E-F58A-37CC-365E1850904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09323" y="72682"/>
            <a:ext cx="2133600" cy="1166812"/>
          </a:xfrm>
          <a:prstGeom prst="rect">
            <a:avLst/>
          </a:prstGeom>
        </p:spPr>
      </p:pic>
      <p:sp>
        <p:nvSpPr>
          <p:cNvPr id="12" name="object 8">
            <a:extLst>
              <a:ext uri="{FF2B5EF4-FFF2-40B4-BE49-F238E27FC236}">
                <a16:creationId xmlns:a16="http://schemas.microsoft.com/office/drawing/2014/main" id="{7FBCBC94-C0E1-18E2-035E-E855F772EBA5}"/>
              </a:ext>
            </a:extLst>
          </p:cNvPr>
          <p:cNvSpPr/>
          <p:nvPr/>
        </p:nvSpPr>
        <p:spPr>
          <a:xfrm>
            <a:off x="3175" y="8023568"/>
            <a:ext cx="15551150" cy="666750"/>
          </a:xfrm>
          <a:custGeom>
            <a:avLst/>
            <a:gdLst/>
            <a:ahLst/>
            <a:cxnLst/>
            <a:rect l="l" t="t" r="r" b="b"/>
            <a:pathLst>
              <a:path w="20104100" h="666750">
                <a:moveTo>
                  <a:pt x="0" y="666300"/>
                </a:moveTo>
                <a:lnTo>
                  <a:pt x="0" y="0"/>
                </a:lnTo>
                <a:lnTo>
                  <a:pt x="20104100" y="0"/>
                </a:lnTo>
                <a:lnTo>
                  <a:pt x="20104100" y="666300"/>
                </a:lnTo>
                <a:lnTo>
                  <a:pt x="0" y="66630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20" dirty="0"/>
              <a:t>The</a:t>
            </a:r>
            <a:r>
              <a:rPr spc="-135" dirty="0"/>
              <a:t> </a:t>
            </a:r>
            <a:r>
              <a:rPr spc="-229" dirty="0"/>
              <a:t>dataset:</a:t>
            </a:r>
            <a:r>
              <a:rPr spc="-135" dirty="0"/>
              <a:t> </a:t>
            </a:r>
            <a:r>
              <a:rPr spc="-265" dirty="0"/>
              <a:t>Snowflake</a:t>
            </a:r>
            <a:r>
              <a:rPr spc="-135" dirty="0"/>
              <a:t> </a:t>
            </a:r>
            <a:r>
              <a:rPr spc="-90" dirty="0"/>
              <a:t>schema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8618" y="1598809"/>
            <a:ext cx="13015403" cy="5140348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A0CD9C1B-EA04-961D-E0B7-3A858942183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09323" y="72682"/>
            <a:ext cx="2133600" cy="1166812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6668FABC-F5AE-5BAE-7CA0-88568B420441}"/>
              </a:ext>
            </a:extLst>
          </p:cNvPr>
          <p:cNvSpPr/>
          <p:nvPr/>
        </p:nvSpPr>
        <p:spPr>
          <a:xfrm>
            <a:off x="3175" y="8023568"/>
            <a:ext cx="15551150" cy="666750"/>
          </a:xfrm>
          <a:custGeom>
            <a:avLst/>
            <a:gdLst/>
            <a:ahLst/>
            <a:cxnLst/>
            <a:rect l="l" t="t" r="r" b="b"/>
            <a:pathLst>
              <a:path w="20104100" h="666750">
                <a:moveTo>
                  <a:pt x="0" y="666300"/>
                </a:moveTo>
                <a:lnTo>
                  <a:pt x="0" y="0"/>
                </a:lnTo>
                <a:lnTo>
                  <a:pt x="20104100" y="0"/>
                </a:lnTo>
                <a:lnTo>
                  <a:pt x="20104100" y="666300"/>
                </a:lnTo>
                <a:lnTo>
                  <a:pt x="0" y="66630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204</Words>
  <Application>Microsoft Office PowerPoint</Application>
  <PresentationFormat>Custom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Tahoma</vt:lpstr>
      <vt:lpstr>Office Theme</vt:lpstr>
      <vt:lpstr>PowerPoint Presentation</vt:lpstr>
      <vt:lpstr>What is a case study?</vt:lpstr>
      <vt:lpstr>Report development in Power BI</vt:lpstr>
      <vt:lpstr>Report development in Power BI</vt:lpstr>
      <vt:lpstr>Report development in Power BI</vt:lpstr>
      <vt:lpstr>Report development in Power BI</vt:lpstr>
      <vt:lpstr>Case study goals</vt:lpstr>
      <vt:lpstr>The dataset: Fact table</vt:lpstr>
      <vt:lpstr>The dataset: Dimension tables Employee EducationLevel RatingLevel SatisfiedLevel Date</vt:lpstr>
      <vt:lpstr>The dataset: Snowflake schema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Mohamed sob7y</cp:lastModifiedBy>
  <cp:revision>5</cp:revision>
  <dcterms:created xsi:type="dcterms:W3CDTF">2025-08-07T07:01:59Z</dcterms:created>
  <dcterms:modified xsi:type="dcterms:W3CDTF">2025-12-22T14:15:01Z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2025-01-15T00:00:00Z</vt:filetime>
  </property>
  <property fmtid="{D5CDD505-2E9C-101B-9397-08002B2CF9AE}" pid="3" name="Creator">
    <vt:lpwstr>Chromium</vt:lpwstr>
  </property>
  <property fmtid="{D5CDD505-2E9C-101B-9397-08002B2CF9AE}" pid="4" name="LastSaved">
    <vt:filetime>2025-08-07T00:00:00Z</vt:filetime>
  </property>
  <property fmtid="{D5CDD505-2E9C-101B-9397-08002B2CF9AE}" pid="5" name="Producer">
    <vt:lpwstr>Skia/PDF m89</vt:lpwstr>
  </property>
</Properties>
</file>